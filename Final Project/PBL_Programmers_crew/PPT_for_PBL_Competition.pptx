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4610100" cy="3467100"/>
  <p:notesSz cx="4610100" cy="3467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6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4801"/>
            <a:ext cx="3918585" cy="7280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41576"/>
            <a:ext cx="3227070" cy="866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7433"/>
            <a:ext cx="2005393" cy="22882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7433"/>
            <a:ext cx="2005393" cy="22882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88385" y="324219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5"/>
                </a:moveTo>
                <a:lnTo>
                  <a:pt x="43018" y="30365"/>
                </a:lnTo>
                <a:lnTo>
                  <a:pt x="43018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0875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8655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39084" y="323188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18" y="50799"/>
                </a:lnTo>
                <a:lnTo>
                  <a:pt x="43018" y="20434"/>
                </a:lnTo>
                <a:lnTo>
                  <a:pt x="0" y="20434"/>
                </a:lnTo>
                <a:lnTo>
                  <a:pt x="0" y="50799"/>
                </a:lnTo>
                <a:close/>
              </a:path>
              <a:path w="64135" h="50800">
                <a:moveTo>
                  <a:pt x="10413" y="20319"/>
                </a:moveTo>
                <a:lnTo>
                  <a:pt x="10413" y="10159"/>
                </a:lnTo>
                <a:lnTo>
                  <a:pt x="53593" y="10159"/>
                </a:lnTo>
                <a:lnTo>
                  <a:pt x="53593" y="40639"/>
                </a:lnTo>
                <a:lnTo>
                  <a:pt x="43433" y="40639"/>
                </a:lnTo>
              </a:path>
              <a:path w="64135" h="50800">
                <a:moveTo>
                  <a:pt x="20574" y="10159"/>
                </a:moveTo>
                <a:lnTo>
                  <a:pt x="20574" y="0"/>
                </a:lnTo>
                <a:lnTo>
                  <a:pt x="63753" y="0"/>
                </a:lnTo>
                <a:lnTo>
                  <a:pt x="63753" y="30479"/>
                </a:lnTo>
                <a:lnTo>
                  <a:pt x="53593" y="30479"/>
                </a:lnTo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75838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453638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31946" y="324458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42919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720846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619246" y="323188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399"/>
                </a:moveTo>
                <a:lnTo>
                  <a:pt x="50800" y="25399"/>
                </a:lnTo>
              </a:path>
              <a:path w="50800" h="50800">
                <a:moveTo>
                  <a:pt x="0" y="38099"/>
                </a:moveTo>
                <a:lnTo>
                  <a:pt x="38100" y="38099"/>
                </a:lnTo>
              </a:path>
              <a:path w="50800" h="50800">
                <a:moveTo>
                  <a:pt x="12700" y="50799"/>
                </a:moveTo>
                <a:lnTo>
                  <a:pt x="50800" y="50799"/>
                </a:lnTo>
              </a:path>
            </a:pathLst>
          </a:custGeom>
          <a:ln w="7591">
            <a:solidFill>
              <a:srgbClr val="D5D5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6327" y="323188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699"/>
                </a:moveTo>
                <a:lnTo>
                  <a:pt x="50800" y="12699"/>
                </a:lnTo>
              </a:path>
              <a:path w="50800" h="25400">
                <a:moveTo>
                  <a:pt x="12700" y="25399"/>
                </a:moveTo>
                <a:lnTo>
                  <a:pt x="50800" y="25399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1012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98792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886327" y="326998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5D5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153408" y="323188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699"/>
                </a:moveTo>
                <a:lnTo>
                  <a:pt x="50800" y="12699"/>
                </a:lnTo>
              </a:path>
              <a:path w="50800" h="50800">
                <a:moveTo>
                  <a:pt x="12700" y="25399"/>
                </a:moveTo>
                <a:lnTo>
                  <a:pt x="50800" y="25399"/>
                </a:lnTo>
              </a:path>
              <a:path w="50800" h="50800">
                <a:moveTo>
                  <a:pt x="0" y="38099"/>
                </a:moveTo>
                <a:lnTo>
                  <a:pt x="38100" y="38099"/>
                </a:lnTo>
              </a:path>
              <a:path w="50800" h="50800">
                <a:moveTo>
                  <a:pt x="12700" y="50799"/>
                </a:moveTo>
                <a:lnTo>
                  <a:pt x="50800" y="50799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451095" y="326236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19" y="20320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4329048" y="3231883"/>
            <a:ext cx="234315" cy="50800"/>
          </a:xfrm>
          <a:custGeom>
            <a:avLst/>
            <a:gdLst/>
            <a:ahLst/>
            <a:cxnLst/>
            <a:rect l="l" t="t" r="r" b="b"/>
            <a:pathLst>
              <a:path w="234314" h="50800">
                <a:moveTo>
                  <a:pt x="125349" y="19164"/>
                </a:moveTo>
                <a:lnTo>
                  <a:pt x="125349" y="10782"/>
                </a:lnTo>
                <a:lnTo>
                  <a:pt x="118490" y="3987"/>
                </a:lnTo>
                <a:lnTo>
                  <a:pt x="110109" y="3987"/>
                </a:lnTo>
                <a:lnTo>
                  <a:pt x="101726" y="3987"/>
                </a:lnTo>
                <a:lnTo>
                  <a:pt x="94868" y="10782"/>
                </a:lnTo>
                <a:lnTo>
                  <a:pt x="94868" y="19164"/>
                </a:lnTo>
                <a:lnTo>
                  <a:pt x="94868" y="27558"/>
                </a:lnTo>
                <a:lnTo>
                  <a:pt x="101726" y="34353"/>
                </a:lnTo>
                <a:lnTo>
                  <a:pt x="110109" y="34353"/>
                </a:lnTo>
                <a:lnTo>
                  <a:pt x="118490" y="34353"/>
                </a:lnTo>
                <a:lnTo>
                  <a:pt x="125349" y="27558"/>
                </a:lnTo>
                <a:lnTo>
                  <a:pt x="125349" y="19164"/>
                </a:lnTo>
                <a:close/>
              </a:path>
              <a:path w="234314" h="50800">
                <a:moveTo>
                  <a:pt x="40639" y="50799"/>
                </a:moveTo>
                <a:lnTo>
                  <a:pt x="50418" y="48793"/>
                </a:lnTo>
                <a:lnTo>
                  <a:pt x="58547" y="43332"/>
                </a:lnTo>
                <a:lnTo>
                  <a:pt x="64008" y="35255"/>
                </a:lnTo>
                <a:lnTo>
                  <a:pt x="66039" y="25399"/>
                </a:lnTo>
                <a:lnTo>
                  <a:pt x="64135" y="15532"/>
                </a:lnTo>
                <a:lnTo>
                  <a:pt x="58674" y="7454"/>
                </a:lnTo>
                <a:lnTo>
                  <a:pt x="50546" y="2006"/>
                </a:lnTo>
                <a:lnTo>
                  <a:pt x="40639" y="0"/>
                </a:lnTo>
                <a:lnTo>
                  <a:pt x="30861" y="2006"/>
                </a:lnTo>
                <a:lnTo>
                  <a:pt x="22733" y="7454"/>
                </a:lnTo>
                <a:lnTo>
                  <a:pt x="17272" y="15532"/>
                </a:lnTo>
                <a:lnTo>
                  <a:pt x="15239" y="25399"/>
                </a:lnTo>
              </a:path>
              <a:path w="234314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4314" h="50800">
                <a:moveTo>
                  <a:pt x="193166" y="50799"/>
                </a:moveTo>
                <a:lnTo>
                  <a:pt x="183261" y="48793"/>
                </a:lnTo>
                <a:lnTo>
                  <a:pt x="175133" y="43332"/>
                </a:lnTo>
                <a:lnTo>
                  <a:pt x="169672" y="35255"/>
                </a:lnTo>
                <a:lnTo>
                  <a:pt x="167766" y="25399"/>
                </a:lnTo>
                <a:lnTo>
                  <a:pt x="169672" y="15532"/>
                </a:lnTo>
                <a:lnTo>
                  <a:pt x="175133" y="7454"/>
                </a:lnTo>
                <a:lnTo>
                  <a:pt x="183261" y="2006"/>
                </a:lnTo>
                <a:lnTo>
                  <a:pt x="193166" y="0"/>
                </a:lnTo>
                <a:lnTo>
                  <a:pt x="202946" y="2006"/>
                </a:lnTo>
                <a:lnTo>
                  <a:pt x="211074" y="7454"/>
                </a:lnTo>
                <a:lnTo>
                  <a:pt x="216535" y="15532"/>
                </a:lnTo>
                <a:lnTo>
                  <a:pt x="218566" y="25399"/>
                </a:lnTo>
              </a:path>
              <a:path w="234314" h="50800">
                <a:moveTo>
                  <a:pt x="233806" y="17779"/>
                </a:moveTo>
                <a:lnTo>
                  <a:pt x="218566" y="30479"/>
                </a:lnTo>
                <a:lnTo>
                  <a:pt x="203326" y="17779"/>
                </a:lnTo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374" y="611250"/>
            <a:ext cx="437070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116963" y="3333251"/>
            <a:ext cx="36830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249554"/>
            <a:ext cx="4483735" cy="502284"/>
            <a:chOff x="87743" y="249554"/>
            <a:chExt cx="4483735" cy="502284"/>
          </a:xfrm>
        </p:grpSpPr>
        <p:sp>
          <p:nvSpPr>
            <p:cNvPr id="3" name="object 3"/>
            <p:cNvSpPr/>
            <p:nvPr/>
          </p:nvSpPr>
          <p:spPr>
            <a:xfrm>
              <a:off x="87743" y="24955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1" y="0"/>
                  </a:lnTo>
                  <a:lnTo>
                    <a:pt x="31074" y="4063"/>
                  </a:lnTo>
                  <a:lnTo>
                    <a:pt x="14922" y="14859"/>
                  </a:lnTo>
                  <a:lnTo>
                    <a:pt x="4008" y="3111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67" y="82423"/>
                  </a:lnTo>
                  <a:lnTo>
                    <a:pt x="4432567" y="50800"/>
                  </a:lnTo>
                  <a:lnTo>
                    <a:pt x="4428503" y="31115"/>
                  </a:lnTo>
                  <a:lnTo>
                    <a:pt x="4417581" y="14859"/>
                  </a:lnTo>
                  <a:lnTo>
                    <a:pt x="4401452" y="4063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312800"/>
              <a:ext cx="4432935" cy="438784"/>
            </a:xfrm>
            <a:custGeom>
              <a:avLst/>
              <a:gdLst/>
              <a:ahLst/>
              <a:cxnLst/>
              <a:rect l="l" t="t" r="r" b="b"/>
              <a:pathLst>
                <a:path w="4432935" h="438784">
                  <a:moveTo>
                    <a:pt x="4432554" y="0"/>
                  </a:moveTo>
                  <a:lnTo>
                    <a:pt x="0" y="0"/>
                  </a:lnTo>
                  <a:lnTo>
                    <a:pt x="0" y="438784"/>
                  </a:lnTo>
                  <a:lnTo>
                    <a:pt x="4432554" y="43878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294004"/>
              <a:ext cx="4432935" cy="407034"/>
            </a:xfrm>
            <a:custGeom>
              <a:avLst/>
              <a:gdLst/>
              <a:ahLst/>
              <a:cxnLst/>
              <a:rect l="l" t="t" r="r" b="b"/>
              <a:pathLst>
                <a:path w="4432935" h="407034">
                  <a:moveTo>
                    <a:pt x="4432567" y="0"/>
                  </a:moveTo>
                  <a:lnTo>
                    <a:pt x="0" y="0"/>
                  </a:lnTo>
                  <a:lnTo>
                    <a:pt x="0" y="355981"/>
                  </a:lnTo>
                  <a:lnTo>
                    <a:pt x="4008" y="375666"/>
                  </a:lnTo>
                  <a:lnTo>
                    <a:pt x="14922" y="391922"/>
                  </a:lnTo>
                  <a:lnTo>
                    <a:pt x="31074" y="402844"/>
                  </a:lnTo>
                  <a:lnTo>
                    <a:pt x="50801" y="406781"/>
                  </a:lnTo>
                  <a:lnTo>
                    <a:pt x="4381767" y="406781"/>
                  </a:lnTo>
                  <a:lnTo>
                    <a:pt x="4401452" y="402844"/>
                  </a:lnTo>
                  <a:lnTo>
                    <a:pt x="4417581" y="391922"/>
                  </a:lnTo>
                  <a:lnTo>
                    <a:pt x="4428503" y="375666"/>
                  </a:lnTo>
                  <a:lnTo>
                    <a:pt x="4432567" y="35598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544" y="190670"/>
            <a:ext cx="4432935" cy="704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R="46990" algn="ctr">
              <a:spcBef>
                <a:spcPts val="455"/>
              </a:spcBef>
            </a:pPr>
            <a:r>
              <a:rPr lang="en-US" dirty="0"/>
              <a:t>Project management and employee profile building platform for city level departments</a:t>
            </a:r>
            <a:br>
              <a:rPr lang="en-IN" dirty="0"/>
            </a:b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138544" y="819150"/>
            <a:ext cx="4382133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4145"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10" dirty="0">
                <a:latin typeface="Microsoft Sans Serif"/>
                <a:cs typeface="Microsoft Sans Serif"/>
              </a:rPr>
              <a:t>Name of students : Om </a:t>
            </a:r>
            <a:r>
              <a:rPr lang="en-US" sz="1100" spc="-10" dirty="0" err="1">
                <a:latin typeface="Microsoft Sans Serif"/>
                <a:cs typeface="Microsoft Sans Serif"/>
              </a:rPr>
              <a:t>Jangam</a:t>
            </a:r>
            <a:r>
              <a:rPr lang="en-US" sz="1100" spc="-10" dirty="0">
                <a:latin typeface="Microsoft Sans Serif"/>
                <a:cs typeface="Microsoft Sans Serif"/>
              </a:rPr>
              <a:t> ,Prashant </a:t>
            </a:r>
            <a:r>
              <a:rPr lang="en-US" sz="1100" spc="-10" dirty="0" err="1">
                <a:latin typeface="Microsoft Sans Serif"/>
                <a:cs typeface="Microsoft Sans Serif"/>
              </a:rPr>
              <a:t>Karad</a:t>
            </a:r>
            <a:r>
              <a:rPr lang="en-US" sz="1100" spc="-10" dirty="0">
                <a:latin typeface="Microsoft Sans Serif"/>
                <a:cs typeface="Microsoft Sans Serif"/>
              </a:rPr>
              <a:t>, Aniruddha Kulkarni, </a:t>
            </a:r>
            <a:r>
              <a:rPr lang="en-US" sz="1100" spc="-10" dirty="0" err="1">
                <a:latin typeface="Microsoft Sans Serif"/>
                <a:cs typeface="Microsoft Sans Serif"/>
              </a:rPr>
              <a:t>Parul</a:t>
            </a:r>
            <a:r>
              <a:rPr lang="en-US" sz="1100" spc="-10" dirty="0">
                <a:latin typeface="Microsoft Sans Serif"/>
                <a:cs typeface="Microsoft Sans Serif"/>
              </a:rPr>
              <a:t> Kulkarni</a:t>
            </a:r>
          </a:p>
          <a:p>
            <a:pPr marR="144145" algn="ctr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L="12700" algn="ctr">
              <a:lnSpc>
                <a:spcPct val="100000"/>
              </a:lnSpc>
            </a:pPr>
            <a:r>
              <a:rPr sz="1100" spc="-20" dirty="0">
                <a:latin typeface="Microsoft Sans Serif"/>
                <a:cs typeface="Microsoft Sans Serif"/>
              </a:rPr>
              <a:t>Guide-</a:t>
            </a:r>
            <a:r>
              <a:rPr lang="en-US" sz="1100" spc="-25" dirty="0">
                <a:latin typeface="Microsoft Sans Serif"/>
                <a:cs typeface="Microsoft Sans Serif"/>
              </a:rPr>
              <a:t> Mr. Anand Deshmukh </a:t>
            </a:r>
            <a:endParaRPr sz="11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R="92710" algn="ctr">
              <a:lnSpc>
                <a:spcPct val="100000"/>
              </a:lnSpc>
            </a:pPr>
            <a:r>
              <a:rPr sz="800" spc="-10" dirty="0">
                <a:latin typeface="Microsoft Sans Serif"/>
                <a:cs typeface="Microsoft Sans Serif"/>
              </a:rPr>
              <a:t>Seminar</a:t>
            </a:r>
            <a:endParaRPr sz="80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0669" y="1592033"/>
            <a:ext cx="506730" cy="647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55166" y="2245258"/>
            <a:ext cx="1707514" cy="8680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r>
              <a:rPr sz="800" dirty="0">
                <a:latin typeface="Microsoft Sans Serif"/>
                <a:cs typeface="Microsoft Sans Serif"/>
              </a:rPr>
              <a:t>PES</a:t>
            </a:r>
            <a:r>
              <a:rPr sz="800" spc="-3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Modern</a:t>
            </a:r>
            <a:r>
              <a:rPr sz="800" spc="-5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College</a:t>
            </a:r>
            <a:r>
              <a:rPr sz="800" spc="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of</a:t>
            </a:r>
            <a:r>
              <a:rPr sz="800" spc="-15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Engineering </a:t>
            </a:r>
            <a:r>
              <a:rPr sz="800" dirty="0">
                <a:latin typeface="Microsoft Sans Serif"/>
                <a:cs typeface="Microsoft Sans Serif"/>
              </a:rPr>
              <a:t>Department</a:t>
            </a:r>
            <a:r>
              <a:rPr sz="800" spc="1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of</a:t>
            </a:r>
            <a:r>
              <a:rPr sz="800" spc="-15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Computer</a:t>
            </a:r>
            <a:r>
              <a:rPr sz="800" spc="-45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Engineering Savitribai Phule </a:t>
            </a:r>
            <a:r>
              <a:rPr sz="800" dirty="0">
                <a:latin typeface="Microsoft Sans Serif"/>
                <a:cs typeface="Microsoft Sans Serif"/>
              </a:rPr>
              <a:t>Pune</a:t>
            </a:r>
            <a:r>
              <a:rPr sz="800" spc="-10" dirty="0">
                <a:latin typeface="Microsoft Sans Serif"/>
                <a:cs typeface="Microsoft Sans Serif"/>
              </a:rPr>
              <a:t> University</a:t>
            </a:r>
            <a:endParaRPr sz="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800" dirty="0">
              <a:latin typeface="Microsoft Sans Serif"/>
              <a:cs typeface="Microsoft Sans Serif"/>
            </a:endParaRPr>
          </a:p>
          <a:p>
            <a:pPr marL="29845" algn="ctr">
              <a:lnSpc>
                <a:spcPct val="100000"/>
              </a:lnSpc>
              <a:spcBef>
                <a:spcPts val="5"/>
              </a:spcBef>
            </a:pPr>
            <a:r>
              <a:rPr lang="en-US" sz="1100" spc="-25" dirty="0">
                <a:latin typeface="Microsoft Sans Serif"/>
                <a:cs typeface="Microsoft Sans Serif"/>
              </a:rPr>
              <a:t>27</a:t>
            </a:r>
            <a:r>
              <a:rPr sz="1100" spc="-25" dirty="0">
                <a:latin typeface="Microsoft Sans Serif"/>
                <a:cs typeface="Microsoft Sans Serif"/>
              </a:rPr>
              <a:t>-</a:t>
            </a:r>
            <a:r>
              <a:rPr lang="en-US" sz="1100" spc="-20" dirty="0">
                <a:latin typeface="Microsoft Sans Serif"/>
                <a:cs typeface="Microsoft Sans Serif"/>
              </a:rPr>
              <a:t>January</a:t>
            </a:r>
            <a:r>
              <a:rPr sz="1100" spc="-20" dirty="0">
                <a:latin typeface="Microsoft Sans Serif"/>
                <a:cs typeface="Microsoft Sans Serif"/>
              </a:rPr>
              <a:t>-202</a:t>
            </a:r>
            <a:r>
              <a:rPr lang="en-US" sz="1100" spc="-20" dirty="0">
                <a:latin typeface="Microsoft Sans Serif"/>
                <a:cs typeface="Microsoft Sans Serif"/>
              </a:rPr>
              <a:t>5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1" name="object 11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61105" y="3333251"/>
            <a:ext cx="709930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January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81" y="476199"/>
            <a:ext cx="188391" cy="1883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3604" y="488695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713" y="348843"/>
            <a:ext cx="1685289" cy="2556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5280">
              <a:lnSpc>
                <a:spcPct val="151000"/>
              </a:lnSpc>
              <a:spcBef>
                <a:spcPts val="95"/>
              </a:spcBef>
            </a:pP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Introduction</a:t>
            </a:r>
            <a:r>
              <a:rPr sz="1100" spc="500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Literature</a:t>
            </a:r>
            <a:r>
              <a:rPr sz="1100" spc="-40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survey </a:t>
            </a:r>
            <a:r>
              <a:rPr sz="1100" spc="-20" dirty="0">
                <a:solidFill>
                  <a:srgbClr val="3333B1"/>
                </a:solidFill>
                <a:latin typeface="Microsoft Sans Serif"/>
                <a:cs typeface="Microsoft Sans Serif"/>
              </a:rPr>
              <a:t>Objectives</a:t>
            </a:r>
            <a:r>
              <a:rPr sz="1100" spc="-2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3333B1"/>
                </a:solidFill>
                <a:latin typeface="Microsoft Sans Serif"/>
                <a:cs typeface="Microsoft Sans Serif"/>
              </a:rPr>
              <a:t>and</a:t>
            </a:r>
            <a:r>
              <a:rPr sz="1100" spc="-1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3333B1"/>
                </a:solidFill>
                <a:latin typeface="Microsoft Sans Serif"/>
                <a:cs typeface="Microsoft Sans Serif"/>
              </a:rPr>
              <a:t>Scope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Problem</a:t>
            </a:r>
            <a:r>
              <a:rPr sz="1100" spc="-4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Statement Architectural</a:t>
            </a:r>
            <a:r>
              <a:rPr sz="1100" spc="-60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Diagram Algorithmic</a:t>
            </a:r>
            <a:r>
              <a:rPr sz="1100" spc="-2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Approach </a:t>
            </a:r>
            <a:r>
              <a:rPr sz="1100" dirty="0">
                <a:solidFill>
                  <a:srgbClr val="3333B1"/>
                </a:solidFill>
                <a:latin typeface="Microsoft Sans Serif"/>
                <a:cs typeface="Microsoft Sans Serif"/>
              </a:rPr>
              <a:t>Input</a:t>
            </a:r>
            <a:r>
              <a:rPr sz="1100" spc="-60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3333B1"/>
                </a:solidFill>
                <a:latin typeface="Microsoft Sans Serif"/>
                <a:cs typeface="Microsoft Sans Serif"/>
              </a:rPr>
              <a:t>/</a:t>
            </a:r>
            <a:r>
              <a:rPr sz="1100" spc="-2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3333B1"/>
                </a:solidFill>
                <a:latin typeface="Microsoft Sans Serif"/>
                <a:cs typeface="Microsoft Sans Serif"/>
              </a:rPr>
              <a:t>Data</a:t>
            </a:r>
            <a:r>
              <a:rPr sz="1100" spc="-3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3333B1"/>
                </a:solidFill>
                <a:latin typeface="Microsoft Sans Serif"/>
                <a:cs typeface="Microsoft Sans Serif"/>
              </a:rPr>
              <a:t>sets</a:t>
            </a:r>
            <a:endParaRPr sz="11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51000"/>
              </a:lnSpc>
            </a:pP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Results/Experimental</a:t>
            </a:r>
            <a:r>
              <a:rPr sz="1100" spc="-7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3333B1"/>
                </a:solidFill>
                <a:latin typeface="Microsoft Sans Serif"/>
                <a:cs typeface="Microsoft Sans Serif"/>
              </a:rPr>
              <a:t>Work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Conclusion</a:t>
            </a:r>
            <a:r>
              <a:rPr sz="1100" spc="-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3333B1"/>
                </a:solidFill>
                <a:latin typeface="Microsoft Sans Serif"/>
                <a:cs typeface="Microsoft Sans Serif"/>
              </a:rPr>
              <a:t>/</a:t>
            </a:r>
            <a:r>
              <a:rPr sz="1100" spc="-45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1"/>
                </a:solidFill>
                <a:latin typeface="Microsoft Sans Serif"/>
                <a:cs typeface="Microsoft Sans Serif"/>
              </a:rPr>
              <a:t>Summary References</a:t>
            </a:r>
            <a:endParaRPr sz="1100" dirty="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81" y="729310"/>
            <a:ext cx="188391" cy="1883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3604" y="741933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2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81" y="982421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3604" y="994409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3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81" y="1235532"/>
            <a:ext cx="188391" cy="18839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3604" y="1248232"/>
            <a:ext cx="8255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4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81" y="1488643"/>
            <a:ext cx="188391" cy="18839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33604" y="1499692"/>
            <a:ext cx="8255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5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81" y="1741881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3604" y="1753946"/>
            <a:ext cx="8255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6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81" y="1994991"/>
            <a:ext cx="188391" cy="18839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33604" y="2007234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7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81" y="2248128"/>
            <a:ext cx="188391" cy="18839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33604" y="2260498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8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81" y="2501277"/>
            <a:ext cx="188391" cy="18839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3604" y="2513787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9</a:t>
            </a:r>
            <a:endParaRPr sz="800" dirty="0">
              <a:latin typeface="Microsoft Sans Serif"/>
              <a:cs typeface="Microsoft Sans Serif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0" y="2724150"/>
            <a:ext cx="188391" cy="188391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26" name="object 26"/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2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75EC478B-CF98-4191-891E-CD85AE7D8311}"/>
              </a:ext>
            </a:extLst>
          </p:cNvPr>
          <p:cNvSpPr txBox="1"/>
          <p:nvPr/>
        </p:nvSpPr>
        <p:spPr>
          <a:xfrm>
            <a:off x="129109" y="2740615"/>
            <a:ext cx="118541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10</a:t>
            </a:r>
            <a:endParaRPr sz="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9709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Introduction</a:t>
            </a:r>
            <a:endParaRPr sz="140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3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333B6-CE45-4AE3-94E0-E4735BFD0822}"/>
              </a:ext>
            </a:extLst>
          </p:cNvPr>
          <p:cNvSpPr txBox="1"/>
          <p:nvPr/>
        </p:nvSpPr>
        <p:spPr>
          <a:xfrm>
            <a:off x="323850" y="514350"/>
            <a:ext cx="403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the constantly evolving and fast paced world, increasing efficiency of project management is very important. </a:t>
            </a:r>
          </a:p>
          <a:p>
            <a:pPr algn="l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This project provides a solution to manage various tasks related to city level department project. </a:t>
            </a:r>
          </a:p>
          <a:p>
            <a:pPr algn="l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Employee profile building platform is also included in the solution. </a:t>
            </a:r>
          </a:p>
          <a:p>
            <a:pPr algn="l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 the help of this project the department can easily handle many projects. </a:t>
            </a:r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6657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Literature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Survey(</a:t>
            </a:r>
            <a:r>
              <a:rPr lang="en-US"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/2)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4968" y="3093646"/>
            <a:ext cx="14439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Microsoft Sans Serif"/>
                <a:cs typeface="Microsoft Sans Serif"/>
              </a:rPr>
              <a:t>Table</a:t>
            </a:r>
            <a:r>
              <a:rPr sz="1000" spc="-30" dirty="0">
                <a:latin typeface="Microsoft Sans Serif"/>
                <a:cs typeface="Microsoft Sans Serif"/>
              </a:rPr>
              <a:t> </a:t>
            </a:r>
            <a:r>
              <a:rPr lang="en-US" sz="1000" spc="-10" dirty="0">
                <a:latin typeface="Microsoft Sans Serif"/>
                <a:cs typeface="Microsoft Sans Serif"/>
              </a:rPr>
              <a:t>1</a:t>
            </a:r>
            <a:r>
              <a:rPr sz="1000" spc="-10" dirty="0">
                <a:latin typeface="Microsoft Sans Serif"/>
                <a:cs typeface="Microsoft Sans Serif"/>
              </a:rPr>
              <a:t>:-Literature Survey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4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06B46D-3EC4-5585-1DE1-D69D3D418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998714"/>
              </p:ext>
            </p:extLst>
          </p:nvPr>
        </p:nvGraphicFramePr>
        <p:xfrm>
          <a:off x="0" y="327774"/>
          <a:ext cx="4591051" cy="2743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383">
                  <a:extLst>
                    <a:ext uri="{9D8B030D-6E8A-4147-A177-3AD203B41FA5}">
                      <a16:colId xmlns:a16="http://schemas.microsoft.com/office/drawing/2014/main" val="3543110426"/>
                    </a:ext>
                  </a:extLst>
                </a:gridCol>
                <a:gridCol w="1103267">
                  <a:extLst>
                    <a:ext uri="{9D8B030D-6E8A-4147-A177-3AD203B41FA5}">
                      <a16:colId xmlns:a16="http://schemas.microsoft.com/office/drawing/2014/main" val="2925384154"/>
                    </a:ext>
                  </a:extLst>
                </a:gridCol>
                <a:gridCol w="1145411">
                  <a:extLst>
                    <a:ext uri="{9D8B030D-6E8A-4147-A177-3AD203B41FA5}">
                      <a16:colId xmlns:a16="http://schemas.microsoft.com/office/drawing/2014/main" val="1151257048"/>
                    </a:ext>
                  </a:extLst>
                </a:gridCol>
                <a:gridCol w="1292990">
                  <a:extLst>
                    <a:ext uri="{9D8B030D-6E8A-4147-A177-3AD203B41FA5}">
                      <a16:colId xmlns:a16="http://schemas.microsoft.com/office/drawing/2014/main" val="2258557620"/>
                    </a:ext>
                  </a:extLst>
                </a:gridCol>
              </a:tblGrid>
              <a:tr h="328797">
                <a:tc>
                  <a:txBody>
                    <a:bodyPr/>
                    <a:lstStyle/>
                    <a:p>
                      <a:r>
                        <a:rPr lang="en-IN" sz="105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Author(s), 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67276"/>
                  </a:ext>
                </a:extLst>
              </a:tr>
              <a:tr h="1265018">
                <a:tc>
                  <a:txBody>
                    <a:bodyPr/>
                    <a:lstStyle/>
                    <a:p>
                      <a:r>
                        <a:rPr lang="en-US" sz="800" dirty="0"/>
                        <a:t>Web-Based Project Collaboration, Monitoring, and Management System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G. A. D. </a:t>
                      </a:r>
                      <a:r>
                        <a:rPr lang="en-IN" sz="800" dirty="0" err="1"/>
                        <a:t>Pradeepa</a:t>
                      </a:r>
                      <a:r>
                        <a:rPr lang="en-IN" sz="800" dirty="0"/>
                        <a:t>, S. </a:t>
                      </a:r>
                      <a:r>
                        <a:rPr lang="en-IN" sz="800" dirty="0" err="1"/>
                        <a:t>Seneviratna</a:t>
                      </a:r>
                      <a:r>
                        <a:rPr lang="en-IN" sz="800" dirty="0"/>
                        <a:t>, S. T. </a:t>
                      </a:r>
                      <a:r>
                        <a:rPr lang="en-IN" sz="800" dirty="0" err="1"/>
                        <a:t>Nandasara</a:t>
                      </a:r>
                      <a:r>
                        <a:rPr lang="en-IN" sz="800" dirty="0"/>
                        <a:t>, 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Collaboration Tools, Project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Focuses on collaboration across different departments and teams. Covers project tracking, communication, and resource sharing across multiple entities, relevant to inter-departmental cooperation.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08720"/>
                  </a:ext>
                </a:extLst>
              </a:tr>
              <a:tr h="1061680">
                <a:tc>
                  <a:txBody>
                    <a:bodyPr/>
                    <a:lstStyle/>
                    <a:p>
                      <a:r>
                        <a:rPr lang="en-US" sz="800" dirty="0"/>
                        <a:t>Usability-Software Development Life Cycle (U-SDLC)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 err="1"/>
                        <a:t>Velmourougan</a:t>
                      </a:r>
                      <a:r>
                        <a:rPr lang="en-IN" sz="800" dirty="0"/>
                        <a:t> S, </a:t>
                      </a:r>
                      <a:r>
                        <a:rPr lang="en-IN" sz="800" dirty="0" err="1"/>
                        <a:t>Dhavachelvan</a:t>
                      </a:r>
                      <a:r>
                        <a:rPr lang="en-IN" sz="800" dirty="0"/>
                        <a:t> P, Baskaran R, Ravikumar B,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Usability in SDLC (Software Development Life Cycle)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Focuses on the integration of usability throughout the SDLC process. Highlights how neglecting usability can lead to costly flaws, proposing a model to incorporate usability tasks in every SDLC phase.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33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577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6657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Literature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Survey(</a:t>
            </a:r>
            <a:r>
              <a:rPr lang="en-US"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/2)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0482" y="2834741"/>
            <a:ext cx="1443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Microsoft Sans Serif"/>
                <a:cs typeface="Microsoft Sans Serif"/>
              </a:rPr>
              <a:t>Table</a:t>
            </a:r>
            <a:r>
              <a:rPr sz="1000" spc="-30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1:-Literature Survey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5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42252A6-72F4-9C06-6D4C-690AA8ED7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233950"/>
              </p:ext>
            </p:extLst>
          </p:nvPr>
        </p:nvGraphicFramePr>
        <p:xfrm>
          <a:off x="5587" y="339522"/>
          <a:ext cx="4591051" cy="2673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383">
                  <a:extLst>
                    <a:ext uri="{9D8B030D-6E8A-4147-A177-3AD203B41FA5}">
                      <a16:colId xmlns:a16="http://schemas.microsoft.com/office/drawing/2014/main" val="3543110426"/>
                    </a:ext>
                  </a:extLst>
                </a:gridCol>
                <a:gridCol w="1124339">
                  <a:extLst>
                    <a:ext uri="{9D8B030D-6E8A-4147-A177-3AD203B41FA5}">
                      <a16:colId xmlns:a16="http://schemas.microsoft.com/office/drawing/2014/main" val="2925384154"/>
                    </a:ext>
                  </a:extLst>
                </a:gridCol>
                <a:gridCol w="1116341">
                  <a:extLst>
                    <a:ext uri="{9D8B030D-6E8A-4147-A177-3AD203B41FA5}">
                      <a16:colId xmlns:a16="http://schemas.microsoft.com/office/drawing/2014/main" val="1151257048"/>
                    </a:ext>
                  </a:extLst>
                </a:gridCol>
                <a:gridCol w="1300988">
                  <a:extLst>
                    <a:ext uri="{9D8B030D-6E8A-4147-A177-3AD203B41FA5}">
                      <a16:colId xmlns:a16="http://schemas.microsoft.com/office/drawing/2014/main" val="2258557620"/>
                    </a:ext>
                  </a:extLst>
                </a:gridCol>
              </a:tblGrid>
              <a:tr h="412409">
                <a:tc>
                  <a:txBody>
                    <a:bodyPr/>
                    <a:lstStyle/>
                    <a:p>
                      <a:r>
                        <a:rPr lang="en-IN" sz="105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Author(s), 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67276"/>
                  </a:ext>
                </a:extLst>
              </a:tr>
              <a:tr h="1191403">
                <a:tc>
                  <a:txBody>
                    <a:bodyPr/>
                    <a:lstStyle/>
                    <a:p>
                      <a:r>
                        <a:rPr lang="en-US" sz="800" dirty="0"/>
                        <a:t>Web Development and Performance Comparison of Web Development Technologies in Node.js and Python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Sai Sri Nandan </a:t>
                      </a:r>
                      <a:r>
                        <a:rPr lang="en-IN" sz="800" dirty="0" err="1"/>
                        <a:t>Challapalli</a:t>
                      </a:r>
                      <a:r>
                        <a:rPr lang="en-IN" sz="800" dirty="0"/>
                        <a:t>, </a:t>
                      </a:r>
                      <a:r>
                        <a:rPr lang="en-IN" sz="800" dirty="0" err="1"/>
                        <a:t>Prakarsh</a:t>
                      </a:r>
                      <a:r>
                        <a:rPr lang="en-IN" sz="800" dirty="0"/>
                        <a:t> Kaushik, Shashikant Suman, Basu Dev </a:t>
                      </a:r>
                      <a:r>
                        <a:rPr lang="en-IN" sz="800" dirty="0" err="1"/>
                        <a:t>Shivahare</a:t>
                      </a:r>
                      <a:r>
                        <a:rPr lang="en-IN" sz="800" dirty="0"/>
                        <a:t>, Vimal Bibhu, Amar Deep Gupta, IEEE,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Node.js, Python, Performance </a:t>
                      </a:r>
                      <a:r>
                        <a:rPr lang="fr-FR" sz="800" dirty="0" err="1"/>
                        <a:t>Comparison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Discusses the evolution of website development, mobile optimization, and compares the performance of Node.js and Python using Locust and Autocannon under similar conditions.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08720"/>
                  </a:ext>
                </a:extLst>
              </a:tr>
              <a:tr h="1069207">
                <a:tc>
                  <a:txBody>
                    <a:bodyPr/>
                    <a:lstStyle/>
                    <a:p>
                      <a:r>
                        <a:rPr lang="en-US" sz="800" dirty="0"/>
                        <a:t>Leveraging MongoDB for Efficient Data Storage in MERN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Naren Chaudhary, Neetu Mittal, IEEE,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MongoDB, MERN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Investigates the use of MongoDB in MERN stack applications for efficient data storage, emphasizing MongoDB's scalability, security, and flexibility for dynamic web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33023"/>
                  </a:ext>
                </a:extLst>
              </a:tr>
            </a:tbl>
          </a:graphicData>
        </a:graphic>
      </p:graphicFrame>
      <p:sp>
        <p:nvSpPr>
          <p:cNvPr id="16" name="object 5">
            <a:extLst>
              <a:ext uri="{FF2B5EF4-FFF2-40B4-BE49-F238E27FC236}">
                <a16:creationId xmlns:a16="http://schemas.microsoft.com/office/drawing/2014/main" id="{2E39C45B-B387-C7BE-E5BC-BABCA56FAC8E}"/>
              </a:ext>
            </a:extLst>
          </p:cNvPr>
          <p:cNvSpPr txBox="1"/>
          <p:nvPr/>
        </p:nvSpPr>
        <p:spPr>
          <a:xfrm>
            <a:off x="1466850" y="3094505"/>
            <a:ext cx="1443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Microsoft Sans Serif"/>
                <a:cs typeface="Microsoft Sans Serif"/>
              </a:rPr>
              <a:t>Table</a:t>
            </a:r>
            <a:r>
              <a:rPr sz="1000" spc="-30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2:-Literature Survey</a:t>
            </a:r>
            <a:endParaRPr sz="1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780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Objectives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Scope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42341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437" y="644093"/>
            <a:ext cx="3938106" cy="21723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lv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build a platform where tasks related to the project development can be handled </a:t>
            </a:r>
          </a:p>
          <a:p>
            <a:pPr lvl="0"/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build a platform where the employee can build their profile which includes the details of the employee, past project contribution, skill set, work experience, etc.</a:t>
            </a:r>
          </a:p>
          <a:p>
            <a:pPr lvl="0"/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build a platform where all the projects of a department can be easily viewed </a:t>
            </a:r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endParaRPr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sz="110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scope of the project extends to the various departments and their projects present at the city level</a:t>
            </a:r>
            <a:endParaRPr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76350"/>
            <a:ext cx="76809" cy="768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95550"/>
            <a:ext cx="76809" cy="768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22171"/>
            <a:ext cx="76809" cy="768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0" name="object 10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6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564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Statement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54760"/>
            <a:ext cx="76809" cy="768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437" y="1479295"/>
            <a:ext cx="3938106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develop a web application for 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city level departments for </a:t>
            </a:r>
            <a:r>
              <a:rPr lang="en-US" sz="110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roject management and employee profile building.</a:t>
            </a:r>
            <a:br>
              <a:rPr lang="en-IN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endParaRPr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7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59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Architectural</a:t>
            </a:r>
            <a:r>
              <a:rPr sz="14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Diagram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1752" y="2967024"/>
            <a:ext cx="22402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1"/>
                </a:solidFill>
                <a:latin typeface="Microsoft Sans Serif"/>
                <a:cs typeface="Microsoft Sans Serif"/>
              </a:rPr>
              <a:t>Figure:</a:t>
            </a:r>
            <a:r>
              <a:rPr sz="1000" spc="-20" dirty="0">
                <a:solidFill>
                  <a:srgbClr val="3333B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1.System</a:t>
            </a:r>
            <a:r>
              <a:rPr sz="1000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Architectural Diagram.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8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1B1598-951E-41F3-9F5D-40BB566C67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9" y="589359"/>
            <a:ext cx="3930651" cy="2210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21189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Algorithmic</a:t>
            </a:r>
            <a:r>
              <a:rPr sz="1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Approach(1/2)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9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98A1D1-4246-46A6-B2F2-F3CBCBE8762E}"/>
              </a:ext>
            </a:extLst>
          </p:cNvPr>
          <p:cNvSpPr txBox="1"/>
          <p:nvPr/>
        </p:nvSpPr>
        <p:spPr>
          <a:xfrm>
            <a:off x="323850" y="514350"/>
            <a:ext cx="3962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Algorithm objective and Selection :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retrieve data from database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analyze database data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search for required data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optimize task assignment 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2. Steps of the Algorithm :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Gather requirement for the request from the user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Fetch the required API’s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Apply searching and sorting algorithms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Apply analyzing algorithms 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3. Efficiency Considerations 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Faster data retrieval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Low cost of algorithm working</a:t>
            </a:r>
          </a:p>
          <a:p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20993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Algorithmic</a:t>
            </a:r>
            <a:r>
              <a:rPr sz="1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approach(2/2)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10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07A01-5ADE-44AF-A864-59F98F13C1B5}"/>
              </a:ext>
            </a:extLst>
          </p:cNvPr>
          <p:cNvSpPr txBox="1"/>
          <p:nvPr/>
        </p:nvSpPr>
        <p:spPr>
          <a:xfrm>
            <a:off x="323850" y="514350"/>
            <a:ext cx="4038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4. Optimization :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Based on the cost of various algorithms, select the best algorithm for a particular task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 Testing :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Test for the various user inputs 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6. Impact on Project : </a:t>
            </a:r>
          </a:p>
          <a:p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 improved work flow of the project </a:t>
            </a:r>
          </a:p>
          <a:p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Input</a:t>
            </a:r>
            <a:r>
              <a:rPr spc="10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78306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437" y="890396"/>
            <a:ext cx="4050665" cy="8848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Microsoft Sans Serif"/>
                <a:cs typeface="Microsoft Sans Serif"/>
              </a:rPr>
              <a:t>The existing data can be collected from the various departments which will be using the project solution and from the city website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Microsoft Sans Serif"/>
                <a:cs typeface="Microsoft Sans Serif"/>
              </a:rPr>
              <a:t>The department project data is to be entered as input by the department whose project is under development</a:t>
            </a:r>
            <a:endParaRPr sz="1100" dirty="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04341"/>
            <a:ext cx="76809" cy="768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8" name="object 8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11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726338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00150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657350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190142"/>
            <a:ext cx="76809" cy="768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95550"/>
            <a:ext cx="76809" cy="7680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1" name="object 11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12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4D1BE-9BB9-415B-85F5-381C105D54D8}"/>
              </a:ext>
            </a:extLst>
          </p:cNvPr>
          <p:cNvSpPr txBox="1"/>
          <p:nvPr/>
        </p:nvSpPr>
        <p:spPr>
          <a:xfrm>
            <a:off x="552450" y="590550"/>
            <a:ext cx="3788093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platform will help in improving efficiency of project management. </a:t>
            </a:r>
          </a:p>
          <a:p>
            <a:pPr rtl="0"/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rt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 becomes easier to get the overview of the department project  </a:t>
            </a:r>
          </a:p>
          <a:p>
            <a:pPr rtl="0"/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rt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Various tasks related to the project management are handled by a single platform</a:t>
            </a:r>
          </a:p>
          <a:p>
            <a:pPr rtl="0"/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rtl="0"/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project is managed in a more structured digital way </a:t>
            </a:r>
          </a:p>
          <a:p>
            <a:pPr rtl="0"/>
            <a:endParaRPr lang="en-US" sz="1100" dirty="0">
              <a:effectLst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rtl="0"/>
            <a:r>
              <a:rPr lang="en-US" sz="11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employee profile 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building is included in the project</a:t>
            </a:r>
            <a:endParaRPr lang="en-US" sz="1100" dirty="0">
              <a:effectLst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References</a:t>
            </a:r>
            <a:r>
              <a:rPr spc="35" dirty="0"/>
              <a:t> </a:t>
            </a:r>
            <a:r>
              <a:rPr spc="-50" dirty="0"/>
              <a:t>I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6" name="object 6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13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A8B2B9-BC68-4FE6-99D5-89DCD130B8F6}"/>
              </a:ext>
            </a:extLst>
          </p:cNvPr>
          <p:cNvSpPr txBox="1"/>
          <p:nvPr/>
        </p:nvSpPr>
        <p:spPr>
          <a:xfrm>
            <a:off x="323850" y="514350"/>
            <a:ext cx="4038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Challapalli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S. S. N., Kaushik, P., Suman, S., </a:t>
            </a:r>
            <a:r>
              <a:rPr lang="en-US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Shivahare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B. D., Bibhu, V., &amp; Gupta, A. D. (2021). Web Development and Performance Comparison of Web Development Technologies in Node.js and Python. IEEE. DOI: 10.1109/ICTAI53825.2021.9673464.</a:t>
            </a:r>
          </a:p>
          <a:p>
            <a:pPr marL="228600" indent="-228600">
              <a:buAutoNum type="arabicPeriod"/>
            </a:pPr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en-IN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Chaudhary, N., &amp; Mittal, N. (2024). Leveraging MongoDB for Efficient Data Storage in MERN. IEEE. DOI: 10.1109/ICRITO61523.2024.10522103.</a:t>
            </a:r>
          </a:p>
          <a:p>
            <a:pPr marL="228600" indent="-228600">
              <a:buAutoNum type="arabicPeriod"/>
            </a:pPr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en-IN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Pradeepa</a:t>
            </a:r>
            <a:r>
              <a:rPr lang="en-IN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G. A. D., </a:t>
            </a:r>
            <a:r>
              <a:rPr lang="en-IN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Seneviratna</a:t>
            </a:r>
            <a:r>
              <a:rPr lang="en-IN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S. S., &amp; </a:t>
            </a:r>
            <a:r>
              <a:rPr lang="en-IN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Nandasara</a:t>
            </a:r>
            <a:r>
              <a:rPr lang="en-IN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S. T. (2014). Web-Based Project Collaboration, Monitoring and Management System. IEEE. DOI: 10.1109/ICTER.2014.7083888.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References</a:t>
            </a:r>
            <a:r>
              <a:rPr spc="10" dirty="0"/>
              <a:t> </a:t>
            </a:r>
            <a:r>
              <a:rPr spc="-25" dirty="0"/>
              <a:t>II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6" name="object 6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14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85E17-0B3E-4C83-A7DB-116201009B57}"/>
              </a:ext>
            </a:extLst>
          </p:cNvPr>
          <p:cNvSpPr txBox="1"/>
          <p:nvPr/>
        </p:nvSpPr>
        <p:spPr>
          <a:xfrm>
            <a:off x="323850" y="361950"/>
            <a:ext cx="3952748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4. </a:t>
            </a:r>
            <a:r>
              <a:rPr lang="en-US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Velmourougan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S., </a:t>
            </a:r>
            <a:r>
              <a:rPr lang="en-US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Dhavachelvan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P., Baskaran, R., &amp; Ravikumar, B. (2014). Software Development Life Cycle Model to Build Software Applications with Usability IEEE. DOI: 10.1109/ICACCI.2014.6968610.</a:t>
            </a:r>
          </a:p>
          <a:p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 Lock, D. (2007). Project Management for the Public Sector: A Guide to the Management of Public Sector Projects. Gower Publishing.</a:t>
            </a:r>
          </a:p>
          <a:p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6. </a:t>
            </a:r>
            <a:r>
              <a:rPr lang="en-US" sz="11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Gloor</a:t>
            </a:r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P. A., et al. (2015). Employee Profile Management: Systems for Knowledge and Performance. Journal of Knowledge Management, 19(4), 623-637.</a:t>
            </a:r>
          </a:p>
          <a:p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1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7. Various Authors. (2017). Collaboration and Task Management in Large-Scale Projects: Insights from a Global Workforce. International Journal of Project Management, 35(5), 927-937.</a:t>
            </a:r>
            <a:endParaRPr lang="en-IN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78" y="199910"/>
            <a:ext cx="4296664" cy="284073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4" name="object 4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27-January-</a:t>
            </a:r>
            <a:r>
              <a:rPr lang="en-US"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15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1189</Words>
  <Application>Microsoft Office PowerPoint</Application>
  <PresentationFormat>Custom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Microsoft Sans Serif</vt:lpstr>
      <vt:lpstr>Office Theme</vt:lpstr>
      <vt:lpstr>Project management and employee profile building platform for city level departments 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Input / Dataset</vt:lpstr>
      <vt:lpstr>Conclusion</vt:lpstr>
      <vt:lpstr>References I</vt:lpstr>
      <vt:lpstr>References 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</dc:creator>
  <cp:lastModifiedBy>Prashant Karad</cp:lastModifiedBy>
  <cp:revision>19</cp:revision>
  <dcterms:created xsi:type="dcterms:W3CDTF">2025-01-22T09:54:58Z</dcterms:created>
  <dcterms:modified xsi:type="dcterms:W3CDTF">2025-02-02T07:55:40Z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2025-01-22T00:00:00Z</vt:filetime>
  </property>
  <property fmtid="{D5CDD505-2E9C-101B-9397-08002B2CF9AE}" pid="5" name="Producer">
    <vt:lpwstr>Microsoft® PowerPoint® 2010</vt:lpwstr>
  </property>
</Properties>
</file>